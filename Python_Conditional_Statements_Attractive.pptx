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Conditional Statements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>
                <a:solidFill>
                  <a:srgbClr val="232A34"/>
                </a:solidFill>
                <a:latin typeface="Aptos"/>
              </a:rPr>
              <a:t>if • if-else • if-elif-else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>
                <a:solidFill>
                  <a:srgbClr val="232A34"/>
                </a:solidFill>
                <a:latin typeface="Aptos"/>
              </a:rPr>
              <a:t>Making decisions in a Python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Real life: If it rains → take an umbrella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Python: If a condition is True → execute a block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1</a:t>
            </a:r>
          </a:p>
        </p:txBody>
      </p:sp>
      <p:sp>
        <p:nvSpPr>
          <p:cNvPr id="8" name="Oval 7"/>
          <p:cNvSpPr/>
          <p:nvPr/>
        </p:nvSpPr>
        <p:spPr>
          <a:xfrm>
            <a:off x="9784080" y="1508760"/>
            <a:ext cx="1097280" cy="1097280"/>
          </a:xfrm>
          <a:prstGeom prst="ellipse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69880" y="2057400"/>
            <a:ext cx="685800" cy="685800"/>
          </a:xfrm>
          <a:prstGeom prst="ellipse">
            <a:avLst/>
          </a:prstGeom>
          <a:solidFill>
            <a:srgbClr val="704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5166360"/>
            <a:ext cx="502920" cy="502920"/>
          </a:xfrm>
          <a:prstGeom prst="ellipse">
            <a:avLst/>
          </a:prstGeom>
          <a:solidFill>
            <a:srgbClr val="F5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1. if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>
                <a:solidFill>
                  <a:srgbClr val="232A34"/>
                </a:solidFill>
                <a:latin typeface="Aptos"/>
              </a:rPr>
              <a:t>Executes code only when the condition is 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2286000"/>
          </a:xfrm>
          <a:prstGeom prst="roundRect">
            <a:avLst/>
          </a:prstGeom>
          <a:solidFill>
            <a:srgbClr val="1C2230"/>
          </a:solidFill>
          <a:ln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latin typeface="Consolas"/>
              </a:defRPr>
            </a:pPr>
            <a:r>
              <a:rPr sz="1800">
                <a:solidFill>
                  <a:srgbClr val="EBF1FA"/>
                </a:solidFill>
                <a:latin typeface="Cascadia Mono"/>
              </a:rPr>
              <a:t>age = 20</a:t>
            </a:r>
            <a:br/>
            <a:br/>
            <a:r>
              <a:rPr sz="1800">
                <a:solidFill>
                  <a:srgbClr val="EBF1FA"/>
                </a:solidFill>
                <a:latin typeface="Cascadia Mono"/>
              </a:rPr>
              <a:t>if age &gt;= 18: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print("You are an adult")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20 &gt;= 18 → True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The indented print statement executes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Syntax: if condition: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49840" y="438912"/>
            <a:ext cx="1325880" cy="43891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2. if-else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>
                <a:solidFill>
                  <a:srgbClr val="232A34"/>
                </a:solidFill>
                <a:latin typeface="Aptos"/>
              </a:rPr>
              <a:t>Used when there are two possible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2286000"/>
          </a:xfrm>
          <a:prstGeom prst="roundRect">
            <a:avLst/>
          </a:prstGeom>
          <a:solidFill>
            <a:srgbClr val="1C2230"/>
          </a:solidFill>
          <a:ln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latin typeface="Consolas"/>
              </a:defRPr>
            </a:pPr>
            <a:r>
              <a:rPr sz="1800">
                <a:solidFill>
                  <a:srgbClr val="EBF1FA"/>
                </a:solidFill>
                <a:latin typeface="Cascadia Mono"/>
              </a:rPr>
              <a:t>age = 16</a:t>
            </a:r>
            <a:br/>
            <a:br/>
            <a:r>
              <a:rPr sz="1800">
                <a:solidFill>
                  <a:srgbClr val="EBF1FA"/>
                </a:solidFill>
                <a:latin typeface="Cascadia Mono"/>
              </a:rPr>
              <a:t>if age &gt;= 18: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print("You can vote")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else: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print("You cannot vote")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True → if block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False → else block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Exactly one of the two blocks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4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49840" y="438912"/>
            <a:ext cx="1325880" cy="438912"/>
          </a:xfrm>
          <a:prstGeom prst="roundRect">
            <a:avLst/>
          </a:prstGeom>
          <a:solidFill>
            <a:srgbClr val="22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IF +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3. if-elif-else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>
                <a:solidFill>
                  <a:srgbClr val="232A34"/>
                </a:solidFill>
                <a:latin typeface="Aptos"/>
              </a:rPr>
              <a:t>Used when there are multiple conditions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2743200"/>
          </a:xfrm>
          <a:prstGeom prst="roundRect">
            <a:avLst/>
          </a:prstGeom>
          <a:solidFill>
            <a:srgbClr val="1C2230"/>
          </a:solidFill>
          <a:ln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latin typeface="Consolas"/>
              </a:defRPr>
            </a:pPr>
            <a:r>
              <a:rPr sz="1800">
                <a:solidFill>
                  <a:srgbClr val="EBF1FA"/>
                </a:solidFill>
                <a:latin typeface="Cascadia Mono"/>
              </a:rPr>
              <a:t>marks = 82</a:t>
            </a:r>
            <a:br/>
            <a:br/>
            <a:r>
              <a:rPr sz="1800">
                <a:solidFill>
                  <a:srgbClr val="EBF1FA"/>
                </a:solidFill>
                <a:latin typeface="Cascadia Mono"/>
              </a:rPr>
              <a:t>if marks &gt;= 90: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print("Grade A")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elif marks &gt;= 75: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print("Grade B")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else: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print("Grade C / Fail")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Python checks conditions from top to bottom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The first True condition is executed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elif means “else if”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49840" y="438912"/>
            <a:ext cx="1325880" cy="438912"/>
          </a:xfrm>
          <a:prstGeom prst="roundRect">
            <a:avLst/>
          </a:prstGeom>
          <a:solidFill>
            <a:srgbClr val="704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IF + ELIF +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Comparison Operators in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0698480" cy="30175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latin typeface="Consolas"/>
              </a:defRPr>
            </a:pPr>
            <a:r>
              <a:rPr>
                <a:solidFill>
                  <a:srgbClr val="232A34"/>
                </a:solidFill>
                <a:latin typeface="Aptos"/>
              </a:rPr>
              <a:t>==   Equal to             x == 10</a:t>
            </a:r>
            <a:br/>
            <a:r>
              <a:rPr>
                <a:solidFill>
                  <a:srgbClr val="232A34"/>
                </a:solidFill>
                <a:latin typeface="Aptos"/>
              </a:rPr>
              <a:t>!=   Not equal            x != 10</a:t>
            </a:r>
            <a:br/>
            <a:r>
              <a:rPr>
                <a:solidFill>
                  <a:srgbClr val="232A34"/>
                </a:solidFill>
                <a:latin typeface="Aptos"/>
              </a:rPr>
              <a:t>&gt;    Greater than         x &gt; 10</a:t>
            </a:r>
            <a:br/>
            <a:r>
              <a:rPr>
                <a:solidFill>
                  <a:srgbClr val="232A34"/>
                </a:solidFill>
                <a:latin typeface="Aptos"/>
              </a:rPr>
              <a:t>&lt;    Less than            x &lt; 10</a:t>
            </a:r>
            <a:br/>
            <a:r>
              <a:rPr>
                <a:solidFill>
                  <a:srgbClr val="232A34"/>
                </a:solidFill>
                <a:latin typeface="Aptos"/>
              </a:rPr>
              <a:t>&gt;=   Greater/equal        x &gt;= 10</a:t>
            </a:r>
            <a:br/>
            <a:r>
              <a:rPr>
                <a:solidFill>
                  <a:srgbClr val="232A34"/>
                </a:solidFill>
                <a:latin typeface="Aptos"/>
              </a:rPr>
              <a:t>&lt;=   Less/equal           x &lt;=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Remember: = assigns a value; == compares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Quick Demo: Student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0698480" cy="3291840"/>
          </a:xfrm>
          <a:prstGeom prst="roundRect">
            <a:avLst/>
          </a:prstGeom>
          <a:solidFill>
            <a:srgbClr val="1C2230"/>
          </a:solidFill>
          <a:ln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latin typeface="Consolas"/>
              </a:defRPr>
            </a:pPr>
            <a:r>
              <a:rPr sz="1800">
                <a:solidFill>
                  <a:srgbClr val="EBF1FA"/>
                </a:solidFill>
                <a:latin typeface="Cascadia Mono"/>
              </a:rPr>
              <a:t>marks = int(input("Enter marks: "))</a:t>
            </a:r>
            <a:br/>
            <a:br/>
            <a:r>
              <a:rPr sz="1800">
                <a:solidFill>
                  <a:srgbClr val="EBF1FA"/>
                </a:solidFill>
                <a:latin typeface="Cascadia Mono"/>
              </a:rPr>
              <a:t>if marks &gt;= 90: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print("Excellent! Grade A")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elif marks &gt;= 75: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print("Very Good! Grade B")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elif marks &gt;= 50: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print("Grade C")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else: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print("Fail")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Try inputs: 95, 78, 55, 40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Ask the class: Which block will execute for 78?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Quick Quiz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>
                <a:solidFill>
                  <a:srgbClr val="232A34"/>
                </a:solidFill>
                <a:latin typeface="Aptos"/>
              </a:rPr>
              <a:t>Test the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2743200"/>
          </a:xfrm>
          <a:prstGeom prst="roundRect">
            <a:avLst/>
          </a:prstGeom>
          <a:solidFill>
            <a:srgbClr val="1C2230"/>
          </a:solidFill>
          <a:ln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>
                <a:latin typeface="Consolas"/>
              </a:defRPr>
            </a:pPr>
            <a:r>
              <a:rPr sz="1800">
                <a:solidFill>
                  <a:srgbClr val="EBF1FA"/>
                </a:solidFill>
                <a:latin typeface="Cascadia Mono"/>
              </a:rPr>
              <a:t>x = 15</a:t>
            </a:r>
            <a:br/>
            <a:br/>
            <a:r>
              <a:rPr sz="1800">
                <a:solidFill>
                  <a:srgbClr val="EBF1FA"/>
                </a:solidFill>
                <a:latin typeface="Cascadia Mono"/>
              </a:rPr>
              <a:t>if x &gt; 20: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print("A")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elif x &gt; 10: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print("B")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else:</a:t>
            </a:r>
            <a:br/>
            <a:r>
              <a:rPr sz="1800">
                <a:solidFill>
                  <a:srgbClr val="EBF1FA"/>
                </a:solidFill>
                <a:latin typeface="Cascadia Mono"/>
              </a:rPr>
              <a:t>    print("C")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Question: What is the output?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Answer: B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Why? 15 &gt; 10 is 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04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>
                <a:solidFill>
                  <a:srgbClr val="232A34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>
                <a:solidFill>
                  <a:srgbClr val="232A34"/>
                </a:solidFill>
                <a:latin typeface="Aptos"/>
              </a:rPr>
              <a:t>Remember these 3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if → one condition / one decision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if-else → two possible paths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if-elif-else → multiple possible paths</a:t>
            </a:r>
          </a:p>
          <a:p>
            <a:pPr>
              <a:spcAft>
                <a:spcPts val="800"/>
              </a:spcAft>
              <a:defRPr sz="1800"/>
            </a:pPr>
            <a:r>
              <a:rPr>
                <a:solidFill>
                  <a:srgbClr val="232A34"/>
                </a:solidFill>
                <a:latin typeface="Aptos"/>
              </a:rPr>
              <a:t>Always use : and proper indentation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>
                <a:solidFill>
                  <a:srgbClr val="232A34"/>
                </a:solidFill>
                <a:latin typeface="Aptos"/>
              </a:rPr>
              <a:t>Thank you!  Any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78"/>
                </a:solidFill>
                <a:latin typeface="Aptos"/>
              </a:defRPr>
            </a:pPr>
            <a:r>
              <a:t>Python Conditional Statements   •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